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AdaptiveFace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DDDDDD"/>
                </a:solidFill>
                <a:latin typeface="Calibri"/>
              </a:rPr>
              <a:t>Mask-Aware Face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Calibri"/>
              </a:rPr>
              <a:t>Biometric Systems — MSc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9260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Taha &amp; Kutay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5661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0292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212121"/>
                </a:solidFill>
                <a:latin typeface="Calibri"/>
              </a:rPr>
              <a:t>Same person, recognised whether they wear a mask or not —
without retraining the recognition model.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  <a:p>
            <a:pPr algn="l"/>
            <a:r>
              <a:rPr sz="1400" i="1">
                <a:solidFill>
                  <a:srgbClr val="DDDDDD"/>
                </a:solidFill>
                <a:latin typeface="Calibri"/>
              </a:rPr>
              <a:t>When the lower half of the face goes missing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Calibri"/>
              </a:rPr>
              <a:t>•  User scenario: enrol once with an unmasked photo. Show up masked or unmasked at the camera. System must recognise you in both cases — without re-enrolment.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Calibri"/>
              </a:rPr>
              <a:t>•  Face recognition models like ArcFace are trained on largely unmasked faces. A mask occludes ~50% of the face area.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Calibri"/>
              </a:rPr>
              <a:t>•  Naïve solutions: (a) retrain the model on masked data, (b) refuse to operate when a mask is detected. Both are bad.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Question: can we keep the off-the-shelf model and still solve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  <a:latin typeface="Calibri"/>
              </a:rPr>
              <a:t>We tried two ideas in parallel:
  1. Mask-aware routing — pick a different matcher when masked.
  2. Multi-template enrollment — add a synthetic-masked copy to the gallery.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AdaptiveFace — Mask-Aware Face Authentication   |   Biometric Systems MSc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Related work</a:t>
            </a:r>
          </a:p>
          <a:p>
            <a:pPr algn="l"/>
            <a:r>
              <a:rPr sz="1400" i="1">
                <a:solidFill>
                  <a:srgbClr val="DDDDDD"/>
                </a:solidFill>
                <a:latin typeface="Calibri"/>
              </a:rPr>
              <a:t>Three past projects shaped our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Smart Peephole (De Marsico et al., IW-BAAS 2017)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Modular pipeline (local detection + cloud recognition). Set the FAR/FRR + ROC + CMC + sigmoid-fit reporting template we reuse.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BioPen (Scozzafava &amp; Ponzi)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Three-stage acquisition / feature extraction / decision layout. Mirrors our pipeline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Biotouch (Moschella &amp; Spini)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Ensemble methods over multiple classifiers — majority, average, weighted-average. Motivated our score-fusion configurations.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We borrow the modular structure, the evaluation template, and the ensemble vocabulary — but adapt them to masked face recognition.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AdaptiveFace — Mask-Aware Face Authentication   |   Biometric Systems MSc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Our two mitigation strategies</a:t>
            </a:r>
          </a:p>
          <a:p>
            <a:pPr algn="l"/>
            <a:r>
              <a:rPr sz="1400" i="1">
                <a:solidFill>
                  <a:srgbClr val="DDDDDD"/>
                </a:solidFill>
                <a:latin typeface="Calibri"/>
              </a:rPr>
              <a:t>Pipeline A (routing) vs. Pipeline B (multi-template)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Pipeline A — Mask-aware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Image → RetinaFace → AIZOO mask classifier
                              ↙           ↘
                       unmasked       masked
                          ↓               ↓
                ArcFace(full)   ArcFace(aligned-upper-fill)
                          ↓               ↓
                  gallery_full   gallery_upper
                              ↘   ↙
                          Accept / Reject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Each identity has 2 templates from one enrolment photo. Mask classifier picks which one to compare against.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A02C"/>
                </a:solidFill>
                <a:latin typeface="Calibri"/>
              </a:rPr>
              <a:t>Pipeline B — Multi-template enrollment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Enrolment (one-time):
    unmasked photo → ArcFace        → gallery_real[i]
    + synthetic mask overlay
                    → ArcFace        → gallery_synth[i]
Recognition:
    probe → ArcFace
         → sim_real  = probe · real^T
         → sim_synth = probe · synth^T
         → max(sim_real, sim_synth)
         → Accept / Reject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02920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Two gallery rows per identity, both from the same photo. No mask classifier needed at match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AdaptiveFace — Mask-Aware Face Authentication   |   Biometric Systems MSc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Datasets and evaluation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LFW — 5,749 ids, 13,233 imgs. Unmasked baseline.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RMFD — 377 paired masked + unmasked ids.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MFR2 — 53-id paired set, demo sanity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Open-set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150 enrolled identities (RMFD) + 80 impostor identities (LFW). Impostors are never enrolled — they exercise the FAR side of every threshold sweep.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Metrics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Genuine / impostor score distributions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FAR &amp; FRR with sigmoid fits (Smart Peephole style)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EER + threshold at EER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ROC with AUC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CMC for identification, ranks 1…20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Per-probe CSV for failure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AdaptiveFace — Mask-Aware Face Authentication   |   Biometric Systems MSc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Experiment 1 — Unmasked baseline (LFW)</a:t>
            </a:r>
          </a:p>
          <a:p>
            <a:pPr algn="l"/>
            <a:r>
              <a:rPr sz="1400" i="1">
                <a:solidFill>
                  <a:srgbClr val="DDDDDD"/>
                </a:solidFill>
                <a:latin typeface="Calibri"/>
              </a:rPr>
              <a:t>Establishing the ceiling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Rank-1 identification rate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92.7 %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Equal-error rate (EER)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5.3 %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EER threshold (cosine)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ROC AUC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0.985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004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200 enrolled identities + 150 impostor identities from LFW.
One unmasked photo per identity is the gallery template; the rest are genuine probes. Two impostor probes per impostor identity.
Sanity check: the ArcFace stack is healthy before we introduce masks.</a:t>
            </a:r>
          </a:p>
        </p:txBody>
      </p:sp>
      <p:pic>
        <p:nvPicPr>
          <p:cNvPr id="5" name="Picture 4" descr="far_f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396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AdaptiveFace — Mask-Aware Face Authentication   |   Biometric Systems MSc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Experiment 2 — Masked-only probes (RMFD)</a:t>
            </a:r>
          </a:p>
          <a:p>
            <a:pPr algn="l"/>
            <a:r>
              <a:rPr sz="1400" i="1">
                <a:solidFill>
                  <a:srgbClr val="DDDDDD"/>
                </a:solidFill>
                <a:latin typeface="Calibri"/>
              </a:rPr>
              <a:t>Isolate the recognition contribution of the upper-face branch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Rank-1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EER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12121"/>
                          </a:solidFill>
                          <a:latin typeface="Calibri"/>
                        </a:rPr>
                        <a:t>full (naive)</a:t>
                      </a:r>
                    </a:p>
                  </a:txBody>
                  <a:tcPr marL="73152" marR="73152" marT="36576" marB="36576">
                    <a:solidFill>
                      <a:srgbClr val="DC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12121"/>
                          </a:solidFill>
                          <a:latin typeface="Calibri"/>
                        </a:rPr>
                        <a:t>54.6 %</a:t>
                      </a:r>
                    </a:p>
                  </a:txBody>
                  <a:tcPr marL="73152" marR="73152" marT="36576" marB="36576">
                    <a:solidFill>
                      <a:srgbClr val="DC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12121"/>
                          </a:solidFill>
                          <a:latin typeface="Calibri"/>
                        </a:rPr>
                        <a:t>15.5 %</a:t>
                      </a:r>
                    </a:p>
                  </a:txBody>
                  <a:tcPr marL="73152" marR="73152" marT="36576" marB="36576">
                    <a:solidFill>
                      <a:srgbClr val="DC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12121"/>
                          </a:solidFill>
                          <a:latin typeface="Calibri"/>
                        </a:rPr>
                        <a:t>0.908</a:t>
                      </a:r>
                    </a:p>
                  </a:txBody>
                  <a:tcPr marL="73152" marR="73152" marT="36576" marB="36576">
                    <a:solidFill>
                      <a:srgbClr val="DCF1DC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upper (aligned fill)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32.4 %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20.9 %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0.866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0896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Observation 1: A real mask hurts. Rank-1 drops 92.7 → 54.6 % (≈ 38 pts).
Observation 2: The upper-fill embedder is 22 pts WORSE than just feeding the masked image straight into ArcFace.
First red flag for the routing approach — but we kept going so we could quantify exactly how much it costs.</a:t>
            </a:r>
          </a:p>
        </p:txBody>
      </p:sp>
      <p:pic>
        <p:nvPicPr>
          <p:cNvPr id="5" name="Picture 4" descr="roc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50292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AdaptiveFace — Mask-Aware Face Authentication   |   Biometric Systems MSc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Experiment 3 — Cross-mode end-to-end (headline)</a:t>
            </a:r>
          </a:p>
          <a:p>
            <a:pPr algn="l"/>
            <a:r>
              <a:rPr sz="1400" i="1">
                <a:solidFill>
                  <a:srgbClr val="DDDDDD"/>
                </a:solidFill>
                <a:latin typeface="Calibri"/>
              </a:rPr>
              <a:t>8 configurations, same probe set, RMFD + LFW impostors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6400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Rank-1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EER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Masked-only R-1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naive (always full)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76.8 %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9.8 %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51.9 %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oracle routing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68.5 %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9.8 %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35.3 %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adaptive routing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69.7 %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9.6 %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37.8 %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fusion_max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55.2 %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13.5 %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39.0 %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fusion_avg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69.3 %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10.8 %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45.2 %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fusion_weighted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70.5 %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10.0 %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41.1 %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multi_max  ★</a:t>
                      </a:r>
                    </a:p>
                  </a:txBody>
                  <a:tcPr marL="73152" marR="73152" marT="36576" marB="36576">
                    <a:solidFill>
                      <a:srgbClr val="DC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77.4 %</a:t>
                      </a:r>
                    </a:p>
                  </a:txBody>
                  <a:tcPr marL="73152" marR="73152" marT="36576" marB="36576">
                    <a:solidFill>
                      <a:srgbClr val="DC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9.1 %</a:t>
                      </a:r>
                    </a:p>
                  </a:txBody>
                  <a:tcPr marL="73152" marR="73152" marT="36576" marB="36576">
                    <a:solidFill>
                      <a:srgbClr val="DC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52.7 %</a:t>
                      </a:r>
                    </a:p>
                  </a:txBody>
                  <a:tcPr marL="73152" marR="73152" marT="36576" marB="36576">
                    <a:solidFill>
                      <a:srgbClr val="DCF1DC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multi_adaptive</a:t>
                      </a:r>
                    </a:p>
                  </a:txBody>
                  <a:tcPr marL="73152" marR="73152" marT="36576" marB="36576">
                    <a:solidFill>
                      <a:srgbClr val="DC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76.1 %</a:t>
                      </a:r>
                    </a:p>
                  </a:txBody>
                  <a:tcPr marL="73152" marR="73152" marT="36576" marB="36576">
                    <a:solidFill>
                      <a:srgbClr val="DC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8.7 %</a:t>
                      </a:r>
                    </a:p>
                  </a:txBody>
                  <a:tcPr marL="73152" marR="73152" marT="36576" marB="36576">
                    <a:solidFill>
                      <a:srgbClr val="DC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50.6 %</a:t>
                      </a:r>
                    </a:p>
                  </a:txBody>
                  <a:tcPr marL="73152" marR="73152" marT="36576" marB="36576">
                    <a:solidFill>
                      <a:srgbClr val="DCF1DC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exp3_rank1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005840"/>
            <a:ext cx="5029200" cy="2828925"/>
          </a:xfrm>
          <a:prstGeom prst="rect">
            <a:avLst/>
          </a:prstGeom>
        </p:spPr>
      </p:pic>
      <p:pic>
        <p:nvPicPr>
          <p:cNvPr id="5" name="Picture 4" descr="exp3_e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93192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AdaptiveFace — Mask-Aware Face Authentication   |   Biometric Systems MSc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does routing fail?</a:t>
            </a:r>
          </a:p>
          <a:p>
            <a:pPr algn="l"/>
            <a:r>
              <a:rPr sz="1400" i="1">
                <a:solidFill>
                  <a:srgbClr val="DDDDDD"/>
                </a:solidFill>
                <a:latin typeface="Calibri"/>
              </a:rPr>
              <a:t>A finding we couldn't predict before running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Per-probe analysis on masked probes: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9144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Cases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naive wrong, upper right (potential recoveries)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+9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12121"/>
                          </a:solidFill>
                          <a:latin typeface="Calibri"/>
                        </a:rPr>
                        <a:t>naive right, upper wrong (regressions)</a:t>
                      </a:r>
                    </a:p>
                  </a:txBody>
                  <a:tcPr marL="73152" marR="73152" marT="36576" marB="36576">
                    <a:solidFill>
                      <a:srgbClr val="DC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12121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73152" marR="73152" marT="36576" marB="36576">
                    <a:solidFill>
                      <a:srgbClr val="DC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12121"/>
                          </a:solidFill>
                          <a:latin typeface="Calibri"/>
                        </a:rPr>
                        <a:t>−57</a:t>
                      </a:r>
                    </a:p>
                  </a:txBody>
                  <a:tcPr marL="73152" marR="73152" marT="36576" marB="36576">
                    <a:solidFill>
                      <a:srgbClr val="DCF1D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Net effect of switching to upper on masked probes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−48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Interpretation: ArcFace already extracts useful identity signal from the visible upper face (eyes, brows, forehead) even when the lower half is masked. Our synthetic forehead-colour fill replaces the natural texture transition between mask edge, brow, and eye socket — exactly the cue ArcFace was leaning on.
Filling does not add information. It erases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555555"/>
                </a:solidFill>
                <a:latin typeface="Calibri"/>
              </a:rPr>
              <a:t>A defensible negative result — and the motivation to try Pipeline 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AdaptiveFace — Mask-Aware Face Authentication   |   Biometric Systems MSc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does multi-template enrollment work?</a:t>
            </a:r>
          </a:p>
          <a:p>
            <a:pPr algn="l"/>
            <a:r>
              <a:rPr sz="1400" i="1">
                <a:solidFill>
                  <a:srgbClr val="DDDDDD"/>
                </a:solidFill>
                <a:latin typeface="Calibri"/>
              </a:rPr>
              <a:t>Distribution match, not better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Each enrolled identity contributes two gallery rows from the same photo: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gallery_real  — original unmasked photo, ArcFace embedding.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gallery_synth — same photo with a synthetic blue surgical mask overlaid, ArcFace embedding.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A real masked probe in the embedding space sits closer to gallery_synth (same mask distribution) than to gallery_real. An unmasked probe sits closer to gallery_real for the same reason.
max(sim_real, sim_synth) automatically picks the right row for each probe. No routing, no classifier, no extra cost at recognition time — the work happens once at enrolment.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2CA02C"/>
                </a:solidFill>
                <a:latin typeface="Calibri"/>
              </a:rPr>
              <a:t>It's not better recognition. It's gallery augmentation.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AdaptiveFace — Mask-Aware Face Authentication   |   Biometric Systems MSc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Experiment 4 — Mask classifier sanity</a:t>
            </a:r>
          </a:p>
          <a:p>
            <a:pPr algn="l"/>
            <a:r>
              <a:rPr sz="1400" i="1">
                <a:solidFill>
                  <a:srgbClr val="DDDDDD"/>
                </a:solidFill>
                <a:latin typeface="Calibri"/>
              </a:rPr>
              <a:t>Ruling out the 'maybe the classifier is noisy' explanation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AIZOO Caffe (cv2.dnn)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94 %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0.991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Unmasked precision / recall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0.90 / 1.00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Masked precision / recall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1.00 / 0.88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Confusion matrix (RMFD, 300 + 300):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20624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truth ↓ / pred →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unmasked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masked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unmasked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299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masked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265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0972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Implication: the classifier is solid (near-perfect on unmasked, 88 % recall on masked).
Combined with Experiment 3, this confirms that the routing pipeline's failure is NOT a classifier-quality issue. The routing decision is high-fidelity; the destination is the problem.
If we had a perfect oracle mask classifier (Exp 3 'oracle' row), rank-1 still drops to 68.5 % vs. naive's 76.8 %.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AdaptiveFace — Mask-Aware Face Authentication   |   Biometric Systems MSc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 +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What we set out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Recognise the same user with or without a mask, without retraining ArcFace.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What we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Mask-aware routing fails on pre-trained ArcFace — net loss of 48 probes vs. naive on masked-only rank-1. ArcFace was already robust; our forehead-fill erased the signal it needed.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Score-level fusion inherits the same disadvantage — the two branches don't make independent errors.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CA02C"/>
                </a:solidFill>
                <a:latin typeface="Calibri"/>
              </a:rPr>
              <a:t>•  Multi-template enrollment with synthetic masks wins on every metric (multi_max): rank-1 76.8 → 77.4 %, EER 9.8 → 9.1 %, masked-only rank-1 51.9 → 52.7 %. multi_adaptive reaches the lowest EER overall, 8.7 %. Small but consistent.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Enrol unmasked → walk past camera unmasked (accept) → put on a mask (still accept) → stranger appears (reject).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AdaptiveFace — Mask-Aware Face Authentication   |   Biometric Systems MSc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